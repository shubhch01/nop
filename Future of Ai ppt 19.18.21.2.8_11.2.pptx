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17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30FD6BA5-57B3-45DA-A1E9-78D87420BF0A}" type="datetimeFigureOut">
              <a:rPr lang="en-IN" smtClean="0"/>
              <a:t>22-05-2026</a:t>
            </a:fld>
            <a:endParaRPr lang="en-IN"/>
          </a:p>
        </p:txBody>
      </p:sp>
      <p:sp>
        <p:nvSpPr>
          <p:cNvPr id="16" name="Slide Number Placeholder 15"/>
          <p:cNvSpPr>
            <a:spLocks noGrp="1"/>
          </p:cNvSpPr>
          <p:nvPr>
            <p:ph type="sldNum" sz="quarter" idx="11"/>
          </p:nvPr>
        </p:nvSpPr>
        <p:spPr/>
        <p:txBody>
          <a:bodyPr/>
          <a:lstStyle/>
          <a:p>
            <a:fld id="{BB0F4F0F-2FFF-469C-92FF-D2842794EB7A}" type="slidenum">
              <a:rPr lang="en-IN" smtClean="0"/>
              <a:t>‹#›</a:t>
            </a:fld>
            <a:endParaRPr lang="en-IN"/>
          </a:p>
        </p:txBody>
      </p:sp>
      <p:sp>
        <p:nvSpPr>
          <p:cNvPr id="17" name="Footer Placeholder 16"/>
          <p:cNvSpPr>
            <a:spLocks noGrp="1"/>
          </p:cNvSpPr>
          <p:nvPr>
            <p:ph type="ftr" sz="quarter" idx="12"/>
          </p:nvPr>
        </p:nvSpPr>
        <p:spPr/>
        <p:txBody>
          <a:bodyPr/>
          <a:lstStyle/>
          <a:p>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30FD6BA5-57B3-45DA-A1E9-78D87420BF0A}" type="datetimeFigureOut">
              <a:rPr lang="en-IN" smtClean="0"/>
              <a:t>22-05-2026</a:t>
            </a:fld>
            <a:endParaRPr lang="en-IN"/>
          </a:p>
        </p:txBody>
      </p:sp>
      <p:sp>
        <p:nvSpPr>
          <p:cNvPr id="15" name="Slide Number Placeholder 14"/>
          <p:cNvSpPr>
            <a:spLocks noGrp="1"/>
          </p:cNvSpPr>
          <p:nvPr>
            <p:ph type="sldNum" sz="quarter" idx="15"/>
          </p:nvPr>
        </p:nvSpPr>
        <p:spPr/>
        <p:txBody>
          <a:bodyPr/>
          <a:lstStyle>
            <a:lvl1pPr algn="ctr">
              <a:defRPr/>
            </a:lvl1pPr>
          </a:lstStyle>
          <a:p>
            <a:fld id="{BB0F4F0F-2FFF-469C-92FF-D2842794EB7A}" type="slidenum">
              <a:rPr lang="en-IN" smtClean="0"/>
              <a:t>‹#›</a:t>
            </a:fld>
            <a:endParaRPr lang="en-IN"/>
          </a:p>
        </p:txBody>
      </p:sp>
      <p:sp>
        <p:nvSpPr>
          <p:cNvPr id="16" name="Footer Placeholder 15"/>
          <p:cNvSpPr>
            <a:spLocks noGrp="1"/>
          </p:cNvSpPr>
          <p:nvPr>
            <p:ph type="ftr" sz="quarter" idx="16"/>
          </p:nvPr>
        </p:nvSpPr>
        <p:spPr/>
        <p:txBody>
          <a:bodyPr/>
          <a:lstStyle/>
          <a:p>
            <a:endParaRPr lang="en-IN"/>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FD6BA5-57B3-45DA-A1E9-78D87420BF0A}"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0F4F0F-2FFF-469C-92FF-D2842794EB7A}" type="slidenum">
              <a:rPr lang="en-IN" smtClean="0"/>
              <a:t>‹#›</a:t>
            </a:fld>
            <a:endParaRPr lang="en-IN"/>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0FD6BA5-57B3-45DA-A1E9-78D87420BF0A}" type="datetimeFigureOut">
              <a:rPr lang="en-IN" smtClean="0"/>
              <a:t>22-05-2026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B0F4F0F-2FFF-469C-92FF-D2842794EB7A}" type="slidenum">
              <a:rPr lang="en-IN" smtClean="0"/>
              <a:t>‹#›</a:t>
            </a:fld>
            <a:endParaRPr lang="en-IN"/>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B0F4F0F-2FFF-469C-92FF-D2842794EB7A}" type="slidenum">
              <a:rPr lang="en-IN" smtClean="0"/>
              <a:t>‹#›</a:t>
            </a:fld>
            <a:endParaRPr lang="en-IN"/>
          </a:p>
        </p:txBody>
      </p:sp>
      <p:sp>
        <p:nvSpPr>
          <p:cNvPr id="8" name="Footer Placeholder 7"/>
          <p:cNvSpPr>
            <a:spLocks noGrp="1"/>
          </p:cNvSpPr>
          <p:nvPr>
            <p:ph type="ftr" sz="quarter" idx="11"/>
          </p:nvPr>
        </p:nvSpPr>
        <p:spPr/>
        <p:txBody>
          <a:bodyPr/>
          <a:lstStyle/>
          <a:p>
            <a:endParaRPr lang="en-IN"/>
          </a:p>
        </p:txBody>
      </p:sp>
      <p:sp>
        <p:nvSpPr>
          <p:cNvPr id="7" name="Date Placeholder 6"/>
          <p:cNvSpPr>
            <a:spLocks noGrp="1"/>
          </p:cNvSpPr>
          <p:nvPr>
            <p:ph type="dt" sz="half" idx="10"/>
          </p:nvPr>
        </p:nvSpPr>
        <p:spPr/>
        <p:txBody>
          <a:bodyPr/>
          <a:lstStyle/>
          <a:p>
            <a:fld id="{30FD6BA5-57B3-45DA-A1E9-78D87420BF0A}" type="datetimeFigureOut">
              <a:rPr lang="en-IN" smtClean="0"/>
              <a:t>22-05-2026</a:t>
            </a:fld>
            <a:endParaRPr lang="en-IN"/>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0FD6BA5-57B3-45DA-A1E9-78D87420BF0A}" type="datetimeFigureOut">
              <a:rPr lang="en-IN" smtClean="0"/>
              <a:t>22-05-2026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B0F4F0F-2FFF-469C-92FF-D2842794EB7A}" type="slidenum">
              <a:rPr lang="en-IN" smtClean="0"/>
              <a:t>‹#›</a:t>
            </a:fld>
            <a:endParaRPr lang="en-IN"/>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FD6BA5-57B3-45DA-A1E9-78D87420BF0A}" type="datetimeFigureOut">
              <a:rPr lang="en-IN" smtClean="0"/>
              <a:t>22-05-2026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B0F4F0F-2FFF-469C-92FF-D2842794EB7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30FD6BA5-57B3-45DA-A1E9-78D87420BF0A}" type="datetimeFigureOut">
              <a:rPr lang="en-IN" smtClean="0"/>
              <a:t>22-05-2026</a:t>
            </a:fld>
            <a:endParaRPr lang="en-IN"/>
          </a:p>
        </p:txBody>
      </p:sp>
      <p:sp>
        <p:nvSpPr>
          <p:cNvPr id="9" name="Slide Number Placeholder 8"/>
          <p:cNvSpPr>
            <a:spLocks noGrp="1"/>
          </p:cNvSpPr>
          <p:nvPr>
            <p:ph type="sldNum" sz="quarter" idx="15"/>
          </p:nvPr>
        </p:nvSpPr>
        <p:spPr/>
        <p:txBody>
          <a:bodyPr/>
          <a:lstStyle/>
          <a:p>
            <a:fld id="{BB0F4F0F-2FFF-469C-92FF-D2842794EB7A}" type="slidenum">
              <a:rPr lang="en-IN" smtClean="0"/>
              <a:t>‹#›</a:t>
            </a:fld>
            <a:endParaRPr lang="en-IN"/>
          </a:p>
        </p:txBody>
      </p:sp>
      <p:sp>
        <p:nvSpPr>
          <p:cNvPr id="10" name="Footer Placeholder 9"/>
          <p:cNvSpPr>
            <a:spLocks noGrp="1"/>
          </p:cNvSpPr>
          <p:nvPr>
            <p:ph type="ftr" sz="quarter" idx="16"/>
          </p:nvPr>
        </p:nvSpPr>
        <p:spPr/>
        <p:txBody>
          <a:bodyPr/>
          <a:lstStyle/>
          <a:p>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8" name="Date Placeholder 7"/>
          <p:cNvSpPr>
            <a:spLocks noGrp="1"/>
          </p:cNvSpPr>
          <p:nvPr>
            <p:ph type="dt" sz="half" idx="10"/>
          </p:nvPr>
        </p:nvSpPr>
        <p:spPr/>
        <p:txBody>
          <a:bodyPr/>
          <a:lstStyle/>
          <a:p>
            <a:fld id="{30FD6BA5-57B3-45DA-A1E9-78D87420BF0A}" type="datetimeFigureOut">
              <a:rPr lang="en-IN" smtClean="0"/>
              <a:t>22-05-2026</a:t>
            </a:fld>
            <a:endParaRPr lang="en-IN"/>
          </a:p>
        </p:txBody>
      </p:sp>
      <p:sp>
        <p:nvSpPr>
          <p:cNvPr id="9" name="Slide Number Placeholder 8"/>
          <p:cNvSpPr>
            <a:spLocks noGrp="1"/>
          </p:cNvSpPr>
          <p:nvPr>
            <p:ph type="sldNum" sz="quarter" idx="11"/>
          </p:nvPr>
        </p:nvSpPr>
        <p:spPr/>
        <p:txBody>
          <a:bodyPr/>
          <a:lstStyle/>
          <a:p>
            <a:fld id="{BB0F4F0F-2FFF-469C-92FF-D2842794EB7A}"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0FD6BA5-57B3-45DA-A1E9-78D87420BF0A}"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0F4F0F-2FFF-469C-92FF-D2842794EB7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0FD6BA5-57B3-45DA-A1E9-78D87420BF0A}" type="datetimeFigureOut">
              <a:rPr lang="en-IN" smtClean="0"/>
              <a:t>22-05-2026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B0F4F0F-2FFF-469C-92FF-D2842794EB7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30FD6BA5-57B3-45DA-A1E9-78D87420BF0A}" type="datetimeFigureOut">
              <a:rPr lang="en-IN" smtClean="0"/>
              <a:t>22-05-2026</a:t>
            </a:fld>
            <a:endParaRPr lang="en-IN"/>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IN"/>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B0F4F0F-2FFF-469C-92FF-D2842794EB7A}" type="slidenum">
              <a:rPr lang="en-IN" smtClean="0"/>
              <a:t>‹#›</a:t>
            </a:fld>
            <a:endParaRPr lang="en-IN"/>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forbes.com/advisor/business/ai-tool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coursera.org/in/articles/data-science-care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geeksforgeeks.org/machine-learning/neural-networks-a-beginners-guid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barc.com/business-intelligence-trend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3528" y="5445224"/>
            <a:ext cx="8305800" cy="1143000"/>
          </a:xfrm>
        </p:spPr>
        <p:txBody>
          <a:bodyPr/>
          <a:lstStyle/>
          <a:p>
            <a:pPr algn="l"/>
            <a:endParaRPr lang="en-US" dirty="0" smtClean="0"/>
          </a:p>
          <a:p>
            <a:pPr algn="l"/>
            <a:r>
              <a:rPr lang="en-US" dirty="0" smtClean="0"/>
              <a:t>Made by </a:t>
            </a:r>
            <a:r>
              <a:rPr lang="en-US" dirty="0" err="1" smtClean="0"/>
              <a:t>shubh</a:t>
            </a:r>
            <a:endParaRPr lang="en-US" dirty="0" smtClean="0"/>
          </a:p>
          <a:p>
            <a:pPr algn="l"/>
            <a:r>
              <a:rPr lang="en-US" dirty="0"/>
              <a:t>	</a:t>
            </a:r>
            <a:r>
              <a:rPr lang="en-US" dirty="0" smtClean="0"/>
              <a:t>11B</a:t>
            </a:r>
            <a:endParaRPr lang="en-IN" dirty="0"/>
          </a:p>
        </p:txBody>
      </p:sp>
      <p:sp>
        <p:nvSpPr>
          <p:cNvPr id="2" name="Title 1"/>
          <p:cNvSpPr>
            <a:spLocks noGrp="1"/>
          </p:cNvSpPr>
          <p:nvPr>
            <p:ph type="ctrTitle"/>
          </p:nvPr>
        </p:nvSpPr>
        <p:spPr/>
        <p:txBody>
          <a:bodyPr/>
          <a:lstStyle/>
          <a:p>
            <a:r>
              <a:rPr lang="en-US" dirty="0" smtClean="0"/>
              <a:t>Future  of A.I.</a:t>
            </a:r>
            <a:endParaRPr lang="en-IN" dirty="0"/>
          </a:p>
        </p:txBody>
      </p:sp>
    </p:spTree>
    <p:extLst>
      <p:ext uri="{BB962C8B-B14F-4D97-AF65-F5344CB8AC3E}">
        <p14:creationId xmlns:p14="http://schemas.microsoft.com/office/powerpoint/2010/main" val="773132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sz="2600" dirty="0" smtClean="0"/>
              <a:t>Artificial </a:t>
            </a:r>
            <a:r>
              <a:rPr lang="en-US" sz="2600" dirty="0"/>
              <a:t>intelligence (AI) is transforming industries at an unprecedented pace. In fact, </a:t>
            </a:r>
            <a:r>
              <a:rPr lang="en-US" sz="2600" dirty="0">
                <a:hlinkClick r:id="rId2"/>
              </a:rPr>
              <a:t>72% of organizations use AI technology</a:t>
            </a:r>
            <a:r>
              <a:rPr lang="en-US" sz="2600" dirty="0"/>
              <a:t> to improve at least one business function. From healthcare and finance to logistics and beyond, AI-driven solutions allow businesses to </a:t>
            </a:r>
            <a:r>
              <a:rPr lang="en-US" sz="2600" i="1" u="sng" dirty="0"/>
              <a:t>achieve next-level efficiency and laser-focused decision-making. </a:t>
            </a:r>
          </a:p>
          <a:p>
            <a:r>
              <a:rPr lang="en-US" sz="2600" dirty="0"/>
              <a:t>As the demand for AI professionals continues to grow, understanding the potential career paths in this growing field is critical for students looking for rewarding and in-demand careers. </a:t>
            </a:r>
            <a:r>
              <a:rPr lang="en-US" sz="2600" dirty="0" smtClean="0"/>
              <a:t>This </a:t>
            </a:r>
            <a:r>
              <a:rPr lang="en-US" sz="2600" i="1" dirty="0" smtClean="0"/>
              <a:t>presentation dives </a:t>
            </a:r>
            <a:r>
              <a:rPr lang="en-US" i="1" dirty="0" smtClean="0"/>
              <a:t>into </a:t>
            </a:r>
            <a:r>
              <a:rPr lang="en-US" sz="2600" i="1" dirty="0" smtClean="0"/>
              <a:t>of </a:t>
            </a:r>
            <a:r>
              <a:rPr lang="en-US" sz="2600" i="1" u="sng" dirty="0" smtClean="0"/>
              <a:t>5 artificial </a:t>
            </a:r>
            <a:r>
              <a:rPr lang="en-US" sz="2600" i="1" u="sng" dirty="0"/>
              <a:t>intelligence career paths </a:t>
            </a:r>
            <a:r>
              <a:rPr lang="en-US" sz="2600" u="sng" dirty="0"/>
              <a:t>and highlights the essential </a:t>
            </a:r>
            <a:r>
              <a:rPr lang="en-US" sz="2600" u="sng" dirty="0" smtClean="0"/>
              <a:t>skills.</a:t>
            </a:r>
            <a:endParaRPr lang="en-IN" dirty="0"/>
          </a:p>
        </p:txBody>
      </p:sp>
      <p:sp>
        <p:nvSpPr>
          <p:cNvPr id="2" name="Title 1"/>
          <p:cNvSpPr>
            <a:spLocks noGrp="1"/>
          </p:cNvSpPr>
          <p:nvPr>
            <p:ph type="title"/>
          </p:nvPr>
        </p:nvSpPr>
        <p:spPr/>
        <p:txBody>
          <a:bodyPr>
            <a:noAutofit/>
          </a:bodyPr>
          <a:lstStyle/>
          <a:p>
            <a:r>
              <a:rPr lang="en-US" sz="8000" dirty="0" smtClean="0">
                <a:latin typeface="Bahnschrift Condensed" pitchFamily="34" charset="0"/>
              </a:rPr>
              <a:t>In general</a:t>
            </a:r>
            <a:endParaRPr lang="en-IN" sz="8000" dirty="0">
              <a:latin typeface="Bahnschrift Condensed" pitchFamily="34" charset="0"/>
            </a:endParaRPr>
          </a:p>
        </p:txBody>
      </p:sp>
    </p:spTree>
    <p:extLst>
      <p:ext uri="{BB962C8B-B14F-4D97-AF65-F5344CB8AC3E}">
        <p14:creationId xmlns:p14="http://schemas.microsoft.com/office/powerpoint/2010/main" val="1134476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1880" dirty="0"/>
              <a:t>Data is transforming the way business works globally. Businesses now have access to enormous amounts of data regarding sales, customer interactions, and digital experiences. This massive amount of data is expected to make businesses more data-driven.</a:t>
            </a:r>
          </a:p>
          <a:p>
            <a:r>
              <a:rPr lang="en-US" sz="1880" dirty="0"/>
              <a:t>Instead of relying on gut instinct, businesses integrate different systems to gain important insights to motivate action and drive innovation. Yet, the data doesn’t make sense on its own. A </a:t>
            </a:r>
            <a:r>
              <a:rPr lang="en-US" sz="1880" u="sng" dirty="0">
                <a:hlinkClick r:id="rId2"/>
              </a:rPr>
              <a:t>data scientist</a:t>
            </a:r>
            <a:r>
              <a:rPr lang="en-US" sz="1880" dirty="0"/>
              <a:t> identifies the available data and determines how to use it to answer business questions effectively. </a:t>
            </a:r>
            <a:endParaRPr lang="en-US" sz="1880" dirty="0" smtClean="0"/>
          </a:p>
          <a:p>
            <a:r>
              <a:rPr lang="en-US" sz="1880" dirty="0" smtClean="0"/>
              <a:t>What does a </a:t>
            </a:r>
            <a:r>
              <a:rPr lang="en-US" sz="1880" dirty="0"/>
              <a:t>D</a:t>
            </a:r>
            <a:r>
              <a:rPr lang="en-US" sz="1880" dirty="0" smtClean="0"/>
              <a:t>ata </a:t>
            </a:r>
            <a:r>
              <a:rPr lang="en-US" sz="1880" dirty="0"/>
              <a:t>S</a:t>
            </a:r>
            <a:r>
              <a:rPr lang="en-US" sz="1880" dirty="0" smtClean="0"/>
              <a:t>cientist do?:</a:t>
            </a:r>
            <a:r>
              <a:rPr lang="en-US" sz="2000" dirty="0"/>
              <a:t>Data scientists combine statistics, machine learning, and computer science to turn data into actionable i</a:t>
            </a:r>
            <a:r>
              <a:rPr lang="en-US" sz="2000" dirty="0" smtClean="0"/>
              <a:t>nsights.</a:t>
            </a:r>
          </a:p>
        </p:txBody>
      </p:sp>
      <p:sp>
        <p:nvSpPr>
          <p:cNvPr id="2" name="Title 1"/>
          <p:cNvSpPr>
            <a:spLocks noGrp="1"/>
          </p:cNvSpPr>
          <p:nvPr>
            <p:ph type="title"/>
          </p:nvPr>
        </p:nvSpPr>
        <p:spPr/>
        <p:txBody>
          <a:bodyPr>
            <a:normAutofit fontScale="90000"/>
          </a:bodyPr>
          <a:lstStyle/>
          <a:p>
            <a:r>
              <a:rPr lang="en-IN" b="1" dirty="0">
                <a:effectLst/>
              </a:rPr>
              <a:t>Data Scientist</a:t>
            </a:r>
            <a:br>
              <a:rPr lang="en-IN" b="1" dirty="0">
                <a:effectLst/>
              </a:rPr>
            </a:br>
            <a:endParaRPr lang="en-IN" dirty="0"/>
          </a:p>
        </p:txBody>
      </p:sp>
    </p:spTree>
    <p:extLst>
      <p:ext uri="{BB962C8B-B14F-4D97-AF65-F5344CB8AC3E}">
        <p14:creationId xmlns:p14="http://schemas.microsoft.com/office/powerpoint/2010/main" val="1734107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Computer  Vision Engineer</a:t>
            </a:r>
            <a:endParaRPr lang="en-IN" dirty="0"/>
          </a:p>
        </p:txBody>
      </p:sp>
      <p:sp>
        <p:nvSpPr>
          <p:cNvPr id="2" name="Content Placeholder 1"/>
          <p:cNvSpPr>
            <a:spLocks noGrp="1"/>
          </p:cNvSpPr>
          <p:nvPr>
            <p:ph idx="1"/>
          </p:nvPr>
        </p:nvSpPr>
        <p:spPr/>
        <p:txBody>
          <a:bodyPr>
            <a:normAutofit lnSpcReduction="10000"/>
          </a:bodyPr>
          <a:lstStyle/>
          <a:p>
            <a:r>
              <a:rPr lang="en-US" sz="2000" dirty="0"/>
              <a:t>A computer vision engineer is an expert who has a deep understanding of machine learning algorithms and </a:t>
            </a:r>
            <a:r>
              <a:rPr lang="en-US" sz="2000" u="sng" dirty="0">
                <a:hlinkClick r:id="rId2"/>
              </a:rPr>
              <a:t>neural networks </a:t>
            </a:r>
            <a:r>
              <a:rPr lang="en-US" sz="2000" dirty="0"/>
              <a:t>that simulate human-like vision. The responsibility of a computer vision engineer is to develop and automate computer vision models that make work and life easier</a:t>
            </a:r>
            <a:r>
              <a:rPr lang="en-US" sz="2000" dirty="0" smtClean="0"/>
              <a:t>.</a:t>
            </a:r>
          </a:p>
          <a:p>
            <a:pPr fontAlgn="base"/>
            <a:r>
              <a:rPr lang="en-US" sz="2000" dirty="0"/>
              <a:t>Computer vision engineers undertake a range of tasks to develop, deploy, and maintain these systems:</a:t>
            </a:r>
          </a:p>
          <a:p>
            <a:pPr lvl="1" fontAlgn="base">
              <a:buFont typeface="Wingdings" pitchFamily="2" charset="2"/>
              <a:buChar char="Ø"/>
            </a:pPr>
            <a:r>
              <a:rPr lang="en-US" sz="1800" dirty="0"/>
              <a:t>Design, test, and deploy computer vision algorithms and hardware tailored to diverse environments.</a:t>
            </a:r>
          </a:p>
          <a:p>
            <a:pPr lvl="1" fontAlgn="base">
              <a:buFont typeface="Wingdings" pitchFamily="2" charset="2"/>
              <a:buChar char="Ø"/>
            </a:pPr>
            <a:r>
              <a:rPr lang="en-US" sz="1800" dirty="0"/>
              <a:t>Develop automated vision algorithms, especially for applications involving robotics and autonomous systems.</a:t>
            </a:r>
          </a:p>
          <a:p>
            <a:pPr lvl="1" fontAlgn="base">
              <a:buFont typeface="Wingdings" pitchFamily="2" charset="2"/>
              <a:buChar char="Ø"/>
            </a:pPr>
            <a:r>
              <a:rPr lang="en-US" sz="1800" dirty="0"/>
              <a:t>Analyze and optimize analytics from computer vision algorithms to enhance their efficiency and performance.</a:t>
            </a:r>
          </a:p>
          <a:p>
            <a:pPr lvl="1" fontAlgn="base">
              <a:buFont typeface="Wingdings" pitchFamily="2" charset="2"/>
              <a:buChar char="Ø"/>
            </a:pPr>
            <a:r>
              <a:rPr lang="en-US" sz="1800" dirty="0"/>
              <a:t>Innovate and propose practical solutions to real-world problems through creative problem-solving.</a:t>
            </a:r>
          </a:p>
          <a:p>
            <a:endParaRPr lang="en-US" sz="2000" dirty="0" smtClean="0"/>
          </a:p>
        </p:txBody>
      </p:sp>
    </p:spTree>
    <p:extLst>
      <p:ext uri="{BB962C8B-B14F-4D97-AF65-F5344CB8AC3E}">
        <p14:creationId xmlns:p14="http://schemas.microsoft.com/office/powerpoint/2010/main" val="50738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dirty="0"/>
              <a:t>The robotics engineering field falls under electrical, mechanical, and computer engineering. It involves designing, building, and engineering robots. It’s also a practical </a:t>
            </a:r>
            <a:r>
              <a:rPr lang="en-US" sz="2000" dirty="0" smtClean="0"/>
              <a:t>design </a:t>
            </a:r>
            <a:r>
              <a:rPr lang="en-US" sz="2000" dirty="0"/>
              <a:t>role in the research field</a:t>
            </a:r>
            <a:r>
              <a:rPr lang="en-US" dirty="0"/>
              <a:t>. </a:t>
            </a:r>
            <a:endParaRPr lang="en-US" dirty="0" smtClean="0"/>
          </a:p>
          <a:p>
            <a:r>
              <a:rPr lang="en-US" sz="2400" dirty="0"/>
              <a:t>As a robotics engineer, you may develop robotic applications across many industries, including automotive, aerospace, manufacturing, </a:t>
            </a:r>
            <a:r>
              <a:rPr lang="en-US" sz="2400" dirty="0" smtClean="0"/>
              <a:t>defense, </a:t>
            </a:r>
            <a:r>
              <a:rPr lang="en-US" sz="2400" dirty="0"/>
              <a:t>and medicine</a:t>
            </a:r>
            <a:r>
              <a:rPr lang="en-US" sz="2400" dirty="0" smtClean="0"/>
              <a:t>.</a:t>
            </a:r>
          </a:p>
          <a:p>
            <a:r>
              <a:rPr lang="en-US" dirty="0"/>
              <a:t>Working as a robotics engineer, you can </a:t>
            </a:r>
            <a:r>
              <a:rPr lang="en-US" dirty="0" smtClean="0"/>
              <a:t>specialize </a:t>
            </a:r>
            <a:r>
              <a:rPr lang="en-US" dirty="0"/>
              <a:t>in areas such as:</a:t>
            </a:r>
          </a:p>
          <a:p>
            <a:pPr marL="822960" lvl="1" indent="-457200">
              <a:buFont typeface="+mj-lt"/>
              <a:buAutoNum type="arabicParenR"/>
            </a:pPr>
            <a:r>
              <a:rPr lang="en-US" sz="1900" dirty="0"/>
              <a:t>Mobility locomotion</a:t>
            </a:r>
          </a:p>
          <a:p>
            <a:pPr marL="822960" lvl="1" indent="-457200">
              <a:buFont typeface="+mj-lt"/>
              <a:buAutoNum type="arabicParenR"/>
            </a:pPr>
            <a:r>
              <a:rPr lang="en-US" sz="1900" dirty="0"/>
              <a:t>Sensing and perception</a:t>
            </a:r>
          </a:p>
          <a:p>
            <a:pPr marL="822960" lvl="1" indent="-457200">
              <a:buFont typeface="+mj-lt"/>
              <a:buAutoNum type="arabicParenR"/>
            </a:pPr>
            <a:r>
              <a:rPr lang="en-US" sz="1900" dirty="0"/>
              <a:t>Operator interface</a:t>
            </a:r>
          </a:p>
          <a:p>
            <a:pPr marL="822960" lvl="1" indent="-457200">
              <a:buFont typeface="+mj-lt"/>
              <a:buAutoNum type="arabicParenR"/>
            </a:pPr>
            <a:r>
              <a:rPr lang="en-US" sz="1900" dirty="0"/>
              <a:t>Manipulators and effectors</a:t>
            </a:r>
          </a:p>
          <a:p>
            <a:pPr marL="822960" lvl="1" indent="-457200">
              <a:buFont typeface="+mj-lt"/>
              <a:buAutoNum type="arabicParenR"/>
            </a:pPr>
            <a:r>
              <a:rPr lang="en-US" sz="1900" dirty="0"/>
              <a:t>Programming</a:t>
            </a:r>
          </a:p>
          <a:p>
            <a:endParaRPr lang="en-US" dirty="0" smtClean="0"/>
          </a:p>
          <a:p>
            <a:endParaRPr lang="en-IN" dirty="0"/>
          </a:p>
        </p:txBody>
      </p:sp>
      <p:sp>
        <p:nvSpPr>
          <p:cNvPr id="3" name="Title 2"/>
          <p:cNvSpPr>
            <a:spLocks noGrp="1"/>
          </p:cNvSpPr>
          <p:nvPr>
            <p:ph type="title"/>
          </p:nvPr>
        </p:nvSpPr>
        <p:spPr/>
        <p:txBody>
          <a:bodyPr/>
          <a:lstStyle/>
          <a:p>
            <a:r>
              <a:rPr lang="en-US" dirty="0" smtClean="0"/>
              <a:t>Robotics Engineer</a:t>
            </a:r>
            <a:endParaRPr lang="en-IN" dirty="0"/>
          </a:p>
        </p:txBody>
      </p:sp>
    </p:spTree>
    <p:extLst>
      <p:ext uri="{BB962C8B-B14F-4D97-AF65-F5344CB8AC3E}">
        <p14:creationId xmlns:p14="http://schemas.microsoft.com/office/powerpoint/2010/main" val="120608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000" dirty="0"/>
              <a:t>Machine Learning Engineers are technically proficient programmers who research, build, and design self-running software to automate predictive models. An ML Engineer builds artificial intelligence (AI) systems that leverage huge data sets to generate and develop algorithms capable of learning and eventually making predictions</a:t>
            </a:r>
            <a:r>
              <a:rPr lang="en-US" sz="2000" dirty="0" smtClean="0"/>
              <a:t>.</a:t>
            </a:r>
          </a:p>
          <a:p>
            <a:r>
              <a:rPr lang="en-US" sz="2000" dirty="0"/>
              <a:t>Designing machine learning systems requires that the Machine Learning Engineer assess, analyze, and organize data, execute tests, and optimize the learning process to help develop high-performance machine learning models</a:t>
            </a:r>
            <a:r>
              <a:rPr lang="en-US" sz="2000" dirty="0" smtClean="0"/>
              <a:t>.</a:t>
            </a:r>
          </a:p>
          <a:p>
            <a:r>
              <a:rPr lang="en-US" sz="2000" dirty="0"/>
              <a:t>Overall, this role is responsible for designing machine learning systems, which involves assessing and organizing data, executing tests and experiments, and generally monitoring and optimizing machine learning processes to help develop strong performing machine learning systems</a:t>
            </a:r>
            <a:r>
              <a:rPr lang="en-US" sz="2000" dirty="0" smtClean="0"/>
              <a:t>.</a:t>
            </a:r>
          </a:p>
          <a:p>
            <a:r>
              <a:rPr lang="en-US" sz="2000" dirty="0"/>
              <a:t>Many job descriptions call for knowledge of programming languages like Python, Java, and C/C++.</a:t>
            </a:r>
            <a:endParaRPr lang="en-IN" sz="2000" dirty="0"/>
          </a:p>
        </p:txBody>
      </p:sp>
      <p:sp>
        <p:nvSpPr>
          <p:cNvPr id="3" name="Title 2"/>
          <p:cNvSpPr>
            <a:spLocks noGrp="1"/>
          </p:cNvSpPr>
          <p:nvPr>
            <p:ph type="title"/>
          </p:nvPr>
        </p:nvSpPr>
        <p:spPr/>
        <p:txBody>
          <a:bodyPr>
            <a:normAutofit/>
          </a:bodyPr>
          <a:lstStyle/>
          <a:p>
            <a:r>
              <a:rPr lang="en-US" dirty="0" smtClean="0"/>
              <a:t>Machine Learning Engineer</a:t>
            </a:r>
            <a:endParaRPr lang="en-IN" dirty="0"/>
          </a:p>
        </p:txBody>
      </p:sp>
    </p:spTree>
    <p:extLst>
      <p:ext uri="{BB962C8B-B14F-4D97-AF65-F5344CB8AC3E}">
        <p14:creationId xmlns:p14="http://schemas.microsoft.com/office/powerpoint/2010/main" val="1704555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a:t>The role of the business intelligence developer is to design solutions for data research and visualization. Let’s dig deeper into what a business intelligence developer is and how you can make this your career</a:t>
            </a:r>
            <a:r>
              <a:rPr lang="en-US" dirty="0" smtClean="0"/>
              <a:t>.</a:t>
            </a:r>
          </a:p>
          <a:p>
            <a:r>
              <a:rPr lang="en-US" sz="2400" dirty="0"/>
              <a:t>Business intelligence developers translate real-world business requirements of their clients or employers into well-designed technical solutions. They work with data engineers to meet these requirements from the data source to the end user. Business intelligence tools created by developers may include:</a:t>
            </a:r>
          </a:p>
          <a:p>
            <a:pPr lvl="1">
              <a:buFont typeface="Arial" pitchFamily="34" charset="0"/>
              <a:buChar char="•"/>
            </a:pPr>
            <a:r>
              <a:rPr lang="en-US" sz="2000" dirty="0"/>
              <a:t>Data warehouses</a:t>
            </a:r>
          </a:p>
          <a:p>
            <a:pPr lvl="1">
              <a:buFont typeface="Arial" pitchFamily="34" charset="0"/>
              <a:buChar char="•"/>
            </a:pPr>
            <a:r>
              <a:rPr lang="en-US" sz="2000" dirty="0"/>
              <a:t>Data visualization</a:t>
            </a:r>
          </a:p>
          <a:p>
            <a:pPr lvl="1">
              <a:buFont typeface="Arial" pitchFamily="34" charset="0"/>
              <a:buChar char="•"/>
            </a:pPr>
            <a:r>
              <a:rPr lang="en-US" sz="2000" dirty="0"/>
              <a:t>Data dashboards</a:t>
            </a:r>
          </a:p>
          <a:p>
            <a:pPr lvl="1">
              <a:buFont typeface="Arial" pitchFamily="34" charset="0"/>
              <a:buChar char="•"/>
            </a:pPr>
            <a:r>
              <a:rPr lang="en-US" sz="2000" dirty="0"/>
              <a:t>Data models</a:t>
            </a:r>
          </a:p>
          <a:p>
            <a:r>
              <a:rPr lang="en-US" dirty="0"/>
              <a:t>The work done by business intelligence developers reinforces good data practices in their workplaces. A </a:t>
            </a:r>
            <a:r>
              <a:rPr lang="en-US" dirty="0">
                <a:hlinkClick r:id="rId2"/>
              </a:rPr>
              <a:t>2024 BARC report</a:t>
            </a:r>
            <a:r>
              <a:rPr lang="en-US" dirty="0"/>
              <a:t> identified the most important data management trends in the global market</a:t>
            </a:r>
            <a:r>
              <a:rPr lang="en-US" dirty="0" smtClean="0"/>
              <a:t>.</a:t>
            </a:r>
            <a:r>
              <a:rPr lang="en-US" dirty="0"/>
              <a:t> </a:t>
            </a:r>
            <a:r>
              <a:rPr lang="en-US" dirty="0" smtClean="0"/>
              <a:t>They keep their </a:t>
            </a:r>
            <a:r>
              <a:rPr lang="en-US" dirty="0"/>
              <a:t>organizations ahead of trends in areas </a:t>
            </a:r>
            <a:r>
              <a:rPr lang="en-US" dirty="0" err="1" smtClean="0"/>
              <a:t>like:Data</a:t>
            </a:r>
            <a:r>
              <a:rPr lang="en-US" dirty="0" smtClean="0"/>
              <a:t> </a:t>
            </a:r>
            <a:r>
              <a:rPr lang="en-US" dirty="0"/>
              <a:t>security &amp; </a:t>
            </a:r>
            <a:r>
              <a:rPr lang="en-US" dirty="0" smtClean="0"/>
              <a:t>privacy, Data </a:t>
            </a:r>
            <a:r>
              <a:rPr lang="en-US" dirty="0"/>
              <a:t>quality </a:t>
            </a:r>
            <a:r>
              <a:rPr lang="en-US" dirty="0" smtClean="0"/>
              <a:t>management, Data governance,  Data-driven culture, Data </a:t>
            </a:r>
            <a:r>
              <a:rPr lang="en-US" dirty="0"/>
              <a:t>literacy</a:t>
            </a:r>
          </a:p>
          <a:p>
            <a:endParaRPr lang="en-IN" dirty="0"/>
          </a:p>
        </p:txBody>
      </p:sp>
      <p:sp>
        <p:nvSpPr>
          <p:cNvPr id="3" name="Title 2"/>
          <p:cNvSpPr>
            <a:spLocks noGrp="1"/>
          </p:cNvSpPr>
          <p:nvPr>
            <p:ph type="title"/>
          </p:nvPr>
        </p:nvSpPr>
        <p:spPr/>
        <p:txBody>
          <a:bodyPr/>
          <a:lstStyle/>
          <a:p>
            <a:r>
              <a:rPr lang="en-US" dirty="0" smtClean="0"/>
              <a:t>Business Intelligence Developers</a:t>
            </a:r>
            <a:endParaRPr lang="en-IN" dirty="0"/>
          </a:p>
        </p:txBody>
      </p:sp>
    </p:spTree>
    <p:extLst>
      <p:ext uri="{BB962C8B-B14F-4D97-AF65-F5344CB8AC3E}">
        <p14:creationId xmlns:p14="http://schemas.microsoft.com/office/powerpoint/2010/main" val="405690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380034"/>
            <a:ext cx="8229600" cy="2859931"/>
          </a:xfrm>
        </p:spPr>
      </p:pic>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1481258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695884"/>
            <a:ext cx="8229600" cy="2228231"/>
          </a:xfrm>
        </p:spPr>
      </p:pic>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71435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457200" y="2439648"/>
            <a:ext cx="8229600" cy="2740704"/>
          </a:xfrm>
        </p:spPr>
      </p:pic>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34889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088236"/>
            <a:ext cx="8229600" cy="1443528"/>
          </a:xfrm>
        </p:spPr>
      </p:pic>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6532705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Paper">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47</TotalTime>
  <Words>410</Words>
  <Application>Microsoft Office PowerPoint</Application>
  <PresentationFormat>On-screen Show (4:3)</PresentationFormat>
  <Paragraphs>40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Paper</vt:lpstr>
      <vt:lpstr>Future  of A.I.</vt:lpstr>
      <vt:lpstr>In general</vt:lpstr>
      <vt:lpstr>Data Scientist </vt:lpstr>
      <vt:lpstr>Computer  Vision Engineer</vt:lpstr>
      <vt:lpstr>Robotics Engineer</vt:lpstr>
      <vt:lpstr>Machine Learning Engineer</vt:lpstr>
      <vt:lpstr>Business Intelligence Developers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of A.I.</dc:title>
  <dc:creator>PC</dc:creator>
  <cp:lastModifiedBy>PC</cp:lastModifiedBy>
  <cp:revision>9</cp:revision>
  <dcterms:created xsi:type="dcterms:W3CDTF">2026-05-20T02:57:12Z</dcterms:created>
  <dcterms:modified xsi:type="dcterms:W3CDTF">2026-05-22T05:11:10Z</dcterms:modified>
</cp:coreProperties>
</file>